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1B3D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2B1B3D"/>
                </a:solidFill>
                <a:latin typeface="Arial"/>
              </a:rPr>
              <a:t>Revenue by Gender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Gender ($)</c:v>
                </c:pt>
              </c:strCache>
            </c:strRef>
          </c:tx>
          <c:spPr>
            <a:solidFill>
              <a:srgbClr val="7B4FB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6AE-4239-BDE4-AFD033CAC818}"/>
              </c:ext>
            </c:extLst>
          </c:dPt>
          <c:dPt>
            <c:idx val="1"/>
            <c:invertIfNegative val="0"/>
            <c:bubble3D val="0"/>
            <c:spPr>
              <a:solidFill>
                <a:srgbClr val="FF6B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AE-4239-BDE4-AFD033CAC818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1B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134364</c:v>
                </c:pt>
                <c:pt idx="1">
                  <c:v>63629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6AE-4239-BDE4-AFD033CAC8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1B3D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2B1B3D"/>
                </a:solidFill>
                <a:latin typeface="Arial"/>
              </a:rPr>
              <a:t>Total Revenue by Subscription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by Subscription ($)</c:v>
                </c:pt>
              </c:strCache>
            </c:strRef>
          </c:tx>
          <c:spPr>
            <a:solidFill>
              <a:srgbClr val="7B4FB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3E8-4015-BE9A-F1DA34A9347F}"/>
              </c:ext>
            </c:extLst>
          </c:dPt>
          <c:dPt>
            <c:idx val="1"/>
            <c:invertIfNegative val="0"/>
            <c:bubble3D val="0"/>
            <c:spPr>
              <a:solidFill>
                <a:srgbClr val="FF6B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E8-4015-BE9A-F1DA34A9347F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1B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Non-subscribers</c:v>
                </c:pt>
                <c:pt idx="1">
                  <c:v>Subscribers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144704</c:v>
                </c:pt>
                <c:pt idx="1">
                  <c:v>53289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3E8-4015-BE9A-F1DA34A934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1B3D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2B1B3D"/>
                </a:solidFill>
                <a:latin typeface="Arial"/>
              </a:rPr>
              <a:t>Customers by Segment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B4F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2C0-42BB-816E-D2C8BFC2DDF6}"/>
              </c:ext>
            </c:extLst>
          </c:dPt>
          <c:dPt>
            <c:idx val="1"/>
            <c:bubble3D val="0"/>
            <c:spPr>
              <a:solidFill>
                <a:srgbClr val="B79C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C0-42BB-816E-D2C8BFC2DDF6}"/>
              </c:ext>
            </c:extLst>
          </c:dPt>
          <c:dPt>
            <c:idx val="2"/>
            <c:bubble3D val="0"/>
            <c:spPr>
              <a:solidFill>
                <a:srgbClr val="FF6B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2C0-42BB-816E-D2C8BFC2DDF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C0-42BB-816E-D2C8BFC2DDF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C0-42BB-816E-D2C8BFC2DDF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2C0-42BB-816E-D2C8BFC2DDF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2660</c:v>
                </c:pt>
                <c:pt idx="1">
                  <c:v>591</c:v>
                </c:pt>
                <c:pt idx="2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2C0-42BB-816E-D2C8BFC2DD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1B3D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B1B3D"/>
                </a:solidFill>
                <a:latin typeface="Arial"/>
              </a:rPr>
              <a:t>Top 5 Products by Avg Rating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 Products by Avg Rating</c:v>
                </c:pt>
              </c:strCache>
            </c:strRef>
          </c:tx>
          <c:spPr>
            <a:solidFill>
              <a:srgbClr val="7B4FB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1B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Sandals</c:v>
                </c:pt>
                <c:pt idx="1">
                  <c:v>Gloves</c:v>
                </c:pt>
                <c:pt idx="2">
                  <c:v>Boots</c:v>
                </c:pt>
                <c:pt idx="3">
                  <c:v>Hat</c:v>
                </c:pt>
                <c:pt idx="4">
                  <c:v>Skirt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3.85</c:v>
                </c:pt>
                <c:pt idx="2">
                  <c:v>3.84</c:v>
                </c:pt>
                <c:pt idx="3">
                  <c:v>3.8</c:v>
                </c:pt>
                <c:pt idx="4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D6-4E9D-8E4E-9A6551D136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1B3D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2B1B3D"/>
                </a:solidFill>
                <a:latin typeface="Arial"/>
              </a:rPr>
              <a:t>Most Discount-Dependent (% discounted)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Most Discount-Dependent (% discounted)</c:v>
                </c:pt>
              </c:strCache>
            </c:strRef>
          </c:tx>
          <c:spPr>
            <a:solidFill>
              <a:srgbClr val="FF6B5B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1B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Sneakers</c:v>
                </c:pt>
                <c:pt idx="1">
                  <c:v>Hoodie</c:v>
                </c:pt>
                <c:pt idx="2">
                  <c:v>Coat</c:v>
                </c:pt>
                <c:pt idx="3">
                  <c:v>Jewelry</c:v>
                </c:pt>
                <c:pt idx="4">
                  <c:v>Hat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52.03</c:v>
                </c:pt>
                <c:pt idx="1">
                  <c:v>49.22</c:v>
                </c:pt>
                <c:pt idx="2">
                  <c:v>48.95</c:v>
                </c:pt>
                <c:pt idx="3">
                  <c:v>48.63</c:v>
                </c:pt>
                <c:pt idx="4">
                  <c:v>48.51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D2-49B1-81BD-B47F5658AA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1B3D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2B1B3D"/>
                </a:solidFill>
                <a:latin typeface="Arial"/>
              </a:rPr>
              <a:t>Avg Purchase by Shipping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 by Shipping ($)</c:v>
                </c:pt>
              </c:strCache>
            </c:strRef>
          </c:tx>
          <c:spPr>
            <a:solidFill>
              <a:srgbClr val="FF6B5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186-4A13-860A-1DC3BE0D9C4E}"/>
              </c:ext>
            </c:extLst>
          </c:dPt>
          <c:dPt>
            <c:idx val="1"/>
            <c:invertIfNegative val="0"/>
            <c:bubble3D val="0"/>
            <c:spPr>
              <a:solidFill>
                <a:srgbClr val="7B4F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86-4A13-860A-1DC3BE0D9C4E}"/>
              </c:ext>
            </c:extLst>
          </c:dPt>
          <c:dLbls>
            <c:numFmt formatCode="\$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1B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Express</c:v>
                </c:pt>
                <c:pt idx="1">
                  <c:v>Standard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58.53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86-4A13-860A-1DC3BE0D9C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1B3D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2B1B3D"/>
                </a:solidFill>
                <a:latin typeface="Arial"/>
              </a:rPr>
              <a:t>Revenue by Age Group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Age Group ($)</c:v>
                </c:pt>
              </c:strCache>
            </c:strRef>
          </c:tx>
          <c:spPr>
            <a:solidFill>
              <a:srgbClr val="7B4FBF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1B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Young Adult</c:v>
                </c:pt>
                <c:pt idx="1">
                  <c:v>Middle-Aged</c:v>
                </c:pt>
                <c:pt idx="2">
                  <c:v>Senior</c:v>
                </c:pt>
                <c:pt idx="3">
                  <c:v>Adult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52189</c:v>
                </c:pt>
                <c:pt idx="1">
                  <c:v>50406</c:v>
                </c:pt>
                <c:pt idx="2">
                  <c:v>47902</c:v>
                </c:pt>
                <c:pt idx="3">
                  <c:v>47496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D8-4A06-9A40-9B6CC38FC1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522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1945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 Behavior Analysis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3832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D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3,900 purchases reveal about spending, segments, products and subscriptions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MySQL  •  Power BI</a:t>
            </a:r>
            <a:endParaRPr lang="en-US" sz="14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B4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(rows)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B4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/ features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ratings (fixed)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uncover insights to guide business decisions on…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15468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720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patterns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560320" y="301752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15468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56032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663440" y="301752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315468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344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preferences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766560" y="301752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315468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76656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behavior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cover demographics, purchase details and shopping behavior.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2" grpId="0" animBg="1"/>
      <p:bldP spid="15" grpId="0" animBg="1"/>
      <p:bldP spid="18" grpId="0" animBg="1"/>
      <p:bldP spid="21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Analysed the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508760"/>
            <a:ext cx="640080" cy="640080"/>
          </a:xfrm>
          <a:prstGeom prst="ellipse">
            <a:avLst/>
          </a:prstGeom>
          <a:solidFill>
            <a:srgbClr val="7B4FB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Python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974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clean, fill missing ratings (median per category), snake_case columns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128016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0" y="1508760"/>
            <a:ext cx="640080" cy="64008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6459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5176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Engineering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697480" y="26974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&amp; purchase frequency; dropped duplicate promo_code_used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128016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03520" y="1508760"/>
            <a:ext cx="640080" cy="640080"/>
          </a:xfrm>
          <a:prstGeom prst="ellipse">
            <a:avLst/>
          </a:prstGeom>
          <a:solidFill>
            <a:srgbClr val="7B4FB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6459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MySQL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26974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loaded; 10 business questions answered with SQL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766560" y="128016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06640" y="1508760"/>
            <a:ext cx="640080" cy="64008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6459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Power BI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903720" y="26974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to present the insights visually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29064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→ clean data → SQL answers → visual dashboard.</a:t>
            </a:r>
            <a:endParaRPr lang="en-US" sz="13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1" grpId="0" animBg="1"/>
      <p:bldP spid="12" grpId="0" animBg="1"/>
      <p:bldP spid="16" grpId="0" animBg="1"/>
      <p:bldP spid="17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Drives Revenue?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548640" y="1143000"/>
          <a:ext cx="38404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105156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graphicFrame>
        <p:nvGraphicFramePr>
          <p:cNvPr id="6" name="Chart 1"/>
          <p:cNvGraphicFramePr/>
          <p:nvPr/>
        </p:nvGraphicFramePr>
        <p:xfrm>
          <a:off x="4754880" y="1143000"/>
          <a:ext cx="38404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023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bring ~68% of revenue.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4023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is nearly equal ($59.87 vs $59.28), but only 899 of 3,316 customers subscribe.</a:t>
            </a:r>
            <a:endParaRPr lang="en-US" sz="1300" dirty="0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4" grpId="0">
        <p:bldAsOne/>
      </p:bldGraphic>
      <p:bldGraphic spid="6" grpId="0">
        <p:bldAsOne/>
      </p:bldGraphic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 &amp; Loyalty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2062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548640" y="1143000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05156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0" y="1143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B4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are “Loyal” (2,660 of 3,316)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37760" y="2788920"/>
            <a:ext cx="37490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(&gt;5 purchases)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3246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Subscribers: 815 of 899 (91%)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Non-subscribers: 2,143 of 2,417 (89%)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3886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are only slightly more likely to be repeat buyers.</a:t>
            </a:r>
            <a:endParaRPr lang="en-US" sz="1200" dirty="0"/>
          </a:p>
        </p:txBody>
      </p:sp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4" grpId="0">
        <p:bldAsOne/>
      </p:bldGraphic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548640" y="1143000"/>
          <a:ext cx="38404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105156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graphicFrame>
        <p:nvGraphicFramePr>
          <p:cNvPr id="6" name="Chart 1"/>
          <p:cNvGraphicFramePr/>
          <p:nvPr/>
        </p:nvGraphicFramePr>
        <p:xfrm>
          <a:off x="4754880" y="1143000"/>
          <a:ext cx="38404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rated items are great campaign leaders; discount-heavy items need margin watching.</a:t>
            </a:r>
            <a:endParaRPr lang="en-US" sz="1300"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4" grpId="0">
        <p:bldAsOne/>
      </p:bldGraphic>
      <p:bldGraphic spid="6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Best-Selling Products by Category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71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5603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Jewelry – 146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Sunglasses – 144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Scarf – 136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60320" y="118872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3716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56032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2743200" y="25603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Shirt – 149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Pants – 146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Sweater – 142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18872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37160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6344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846320" y="25603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Sandals – 133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Shoes – 126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Boots – 125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766560" y="118872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37160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949440" y="25603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Coat – 143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Jacket – 134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show total orders. Top-3 lists per category.</a:t>
            </a:r>
            <a:endParaRPr lang="en-US" sz="13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&amp; Age Group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548640" y="1143000"/>
          <a:ext cx="38404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105156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graphicFrame>
        <p:nvGraphicFramePr>
          <p:cNvPr id="6" name="Chart 1"/>
          <p:cNvGraphicFramePr/>
          <p:nvPr/>
        </p:nvGraphicFramePr>
        <p:xfrm>
          <a:off x="4754880" y="1143000"/>
          <a:ext cx="38404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shoppers spend ~$2.47 more; young adults lead, but all age groups are close.</a:t>
            </a:r>
            <a:endParaRPr lang="en-US" sz="1300" dirty="0"/>
          </a:p>
        </p:txBody>
      </p:sp>
    </p:spTree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000" dirty="0"/>
          </a:p>
        </p:txBody>
      </p:sp>
      <p:pic>
        <p:nvPicPr>
          <p:cNvPr id="3" name="Image 0" descr="word/media/image13.png"/>
          <p:cNvPicPr>
            <a:picLocks noChangeAspect="1"/>
          </p:cNvPicPr>
          <p:nvPr/>
        </p:nvPicPr>
        <p:blipFill>
          <a:blip r:embed="rId3"/>
          <a:srcRect b="4903"/>
          <a:stretch>
            <a:fillRect/>
          </a:stretch>
        </p:blipFill>
        <p:spPr>
          <a:xfrm>
            <a:off x="457200" y="1005840"/>
            <a:ext cx="5120640" cy="3017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52160" y="100584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0" y="1097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B4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3.316K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1097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52160" y="205740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2148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B4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2148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rating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31089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0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B4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$59.71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32004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 amount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subscription, gender, category and shipping type.</a:t>
            </a:r>
            <a:endParaRPr lang="en-US" sz="1300" dirty="0"/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3D2A55"/>
          </a:solidFill>
          <a:ln w="12700">
            <a:solidFill>
              <a:srgbClr val="5A447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D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exclusive subscriber benefits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9184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3D2A55"/>
          </a:solidFill>
          <a:ln w="12700">
            <a:solidFill>
              <a:srgbClr val="5A447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3716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93192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47472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D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repeat buyers to keep them “Loyal”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2648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3D2A55"/>
          </a:solidFill>
          <a:ln w="12700">
            <a:solidFill>
              <a:srgbClr val="5A447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3716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D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sales boosts with margin control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29260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3D2A55"/>
          </a:solidFill>
          <a:ln w="12700">
            <a:solidFill>
              <a:srgbClr val="5A447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1089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D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top-rated &amp; best-selling items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291840" y="29260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3D2A55"/>
          </a:solidFill>
          <a:ln w="12700">
            <a:solidFill>
              <a:srgbClr val="5A4478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10896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93192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347472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D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high-revenue ages &amp; express-shipping users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6126480" y="4480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459</Words>
  <Application>Microsoft Office PowerPoint</Application>
  <PresentationFormat>On-screen Show (16:9)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MAHESH NIDIGALLU</cp:lastModifiedBy>
  <cp:revision>6</cp:revision>
  <dcterms:created xsi:type="dcterms:W3CDTF">2026-09-29T16:39:25Z</dcterms:created>
  <dcterms:modified xsi:type="dcterms:W3CDTF">2026-09-30T05:34:37Z</dcterms:modified>
</cp:coreProperties>
</file>